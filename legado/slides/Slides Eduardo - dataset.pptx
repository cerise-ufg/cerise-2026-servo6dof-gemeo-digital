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fdNxynDbi5RLc0OWjDVn7yazU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7ac4e556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97ac4e556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f3c24e5573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1f3c24e5573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2e50640b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d2e50640b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90e043bcd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d90e043bcd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90e043bcd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d90e043bcd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5bc494afd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45bc494afd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subTitle"/>
          </p:nvPr>
        </p:nvSpPr>
        <p:spPr>
          <a:xfrm>
            <a:off x="1871531" y="4221088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" name="Google Shape;25;p10"/>
          <p:cNvSpPr/>
          <p:nvPr/>
        </p:nvSpPr>
        <p:spPr>
          <a:xfrm>
            <a:off x="-906" y="6065912"/>
            <a:ext cx="12192000" cy="792088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0"/>
          <p:cNvSpPr txBox="1"/>
          <p:nvPr/>
        </p:nvSpPr>
        <p:spPr>
          <a:xfrm>
            <a:off x="9264352" y="3645024"/>
            <a:ext cx="2880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3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4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4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10800" y="44452"/>
            <a:ext cx="1940356" cy="1032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7" name="Google Shape;8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10800" y="44452"/>
            <a:ext cx="1940356" cy="1032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ctrTitle"/>
          </p:nvPr>
        </p:nvSpPr>
        <p:spPr>
          <a:xfrm>
            <a:off x="2279576" y="2237147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Geração de Dataset de Poses de Braço Robótico</a:t>
            </a:r>
            <a:endParaRPr/>
          </a:p>
        </p:txBody>
      </p:sp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115464" y="4941168"/>
            <a:ext cx="10585176" cy="1224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800">
                <a:solidFill>
                  <a:schemeClr val="dk1"/>
                </a:solidFill>
              </a:rPr>
              <a:t>Coordenador do Grupo: </a:t>
            </a:r>
            <a:r>
              <a:rPr lang="pt-BR" sz="2800">
                <a:solidFill>
                  <a:schemeClr val="dk1"/>
                </a:solidFill>
              </a:rPr>
              <a:t>Prof. Alisson Ássis Cardoso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858146" y="4205850"/>
            <a:ext cx="1135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Grupo/Eixo Temático: </a:t>
            </a:r>
            <a:r>
              <a:rPr b="1" lang="pt-BR" sz="2400">
                <a:solidFill>
                  <a:schemeClr val="dk1"/>
                </a:solidFill>
              </a:rPr>
              <a:t>Navegação Autônoma / Robótica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0291194" y="6381328"/>
            <a:ext cx="19195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28/08/2026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360" y="185735"/>
            <a:ext cx="4479429" cy="1421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8052" y="148880"/>
            <a:ext cx="2890105" cy="1324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volvimento" id="98" name="Google Shape;9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2344" y="450462"/>
            <a:ext cx="4071886" cy="830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7ac4e5566_0_0"/>
          <p:cNvSpPr txBox="1"/>
          <p:nvPr>
            <p:ph type="title"/>
          </p:nvPr>
        </p:nvSpPr>
        <p:spPr>
          <a:xfrm>
            <a:off x="142063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Calibri"/>
              <a:buNone/>
            </a:pPr>
            <a:r>
              <a:rPr b="1" lang="pt-BR">
                <a:solidFill>
                  <a:srgbClr val="0033CC"/>
                </a:solidFill>
              </a:rPr>
              <a:t>Objetivo</a:t>
            </a:r>
            <a:endParaRPr/>
          </a:p>
        </p:txBody>
      </p:sp>
      <p:pic>
        <p:nvPicPr>
          <p:cNvPr id="104" name="Google Shape;104;g397ac4e556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4276" y="84575"/>
            <a:ext cx="1940356" cy="1032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volvimento" id="105" name="Google Shape;105;g397ac4e556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344" y="5977259"/>
            <a:ext cx="28003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97ac4e5566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1725" y="985000"/>
            <a:ext cx="9468551" cy="50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f3c24e5573_0_107"/>
          <p:cNvSpPr txBox="1"/>
          <p:nvPr>
            <p:ph type="title"/>
          </p:nvPr>
        </p:nvSpPr>
        <p:spPr>
          <a:xfrm>
            <a:off x="142063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Calibri"/>
              <a:buNone/>
            </a:pPr>
            <a:r>
              <a:rPr b="1" lang="pt-BR">
                <a:solidFill>
                  <a:srgbClr val="0033CC"/>
                </a:solidFill>
              </a:rPr>
              <a:t>Atividades Realizadas</a:t>
            </a:r>
            <a:endParaRPr/>
          </a:p>
        </p:txBody>
      </p:sp>
      <p:sp>
        <p:nvSpPr>
          <p:cNvPr id="112" name="Google Shape;112;g1f3c24e5573_0_107"/>
          <p:cNvSpPr txBox="1"/>
          <p:nvPr>
            <p:ph idx="1" type="body"/>
          </p:nvPr>
        </p:nvSpPr>
        <p:spPr>
          <a:xfrm>
            <a:off x="599263" y="1166018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pt-BR" sz="2800">
                <a:latin typeface="Arial"/>
                <a:ea typeface="Arial"/>
                <a:cs typeface="Arial"/>
                <a:sym typeface="Arial"/>
              </a:rPr>
              <a:t>MoveIt 2 configurado pelo Setup Assistant: grupos, matriz de auto-colisão e cinemática validados no braço de 5 juntas.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pt-BR" sz="2800">
                <a:latin typeface="Arial"/>
                <a:ea typeface="Arial"/>
                <a:cs typeface="Arial"/>
                <a:sym typeface="Arial"/>
              </a:rPr>
              <a:t>Renderização migrada de software para GPU (ogre2), o que viabilizou gerar dezenas de GB em uma noite.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pt-BR" sz="2800">
                <a:latin typeface="Arial"/>
                <a:ea typeface="Arial"/>
                <a:cs typeface="Arial"/>
                <a:sym typeface="Arial"/>
              </a:rPr>
              <a:t>Estúdio com duas câmeras em 1920x1080 capturando RGB, profundidade e segmentação a cada pose.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pt-BR" sz="2800">
                <a:latin typeface="Arial"/>
                <a:ea typeface="Arial"/>
                <a:cs typeface="Arial"/>
                <a:sym typeface="Arial"/>
              </a:rPr>
              <a:t>Status Atual: dataset concluído com 60.000 imagens em 10.000 poses, somando 42 GB anotados em JSON e CSV.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1f3c24e5573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4276" y="84575"/>
            <a:ext cx="1940356" cy="1032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volvimento" id="114" name="Google Shape;114;g1f3c24e5573_0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344" y="5977259"/>
            <a:ext cx="28003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2e50640b3_0_0"/>
          <p:cNvSpPr txBox="1"/>
          <p:nvPr>
            <p:ph type="title"/>
          </p:nvPr>
        </p:nvSpPr>
        <p:spPr>
          <a:xfrm>
            <a:off x="191338" y="-1992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Calibri"/>
              <a:buNone/>
            </a:pPr>
            <a:r>
              <a:rPr b="1" lang="pt-BR">
                <a:solidFill>
                  <a:srgbClr val="0033CC"/>
                </a:solidFill>
              </a:rPr>
              <a:t>Atividades Realizadas</a:t>
            </a:r>
            <a:endParaRPr/>
          </a:p>
        </p:txBody>
      </p:sp>
      <p:pic>
        <p:nvPicPr>
          <p:cNvPr id="120" name="Google Shape;120;g3d2e50640b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4276" y="84575"/>
            <a:ext cx="1940356" cy="1032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volvimento" id="121" name="Google Shape;121;g3d2e50640b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344" y="5977259"/>
            <a:ext cx="28003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d2e50640b3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2525" y="870700"/>
            <a:ext cx="7159200" cy="51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d2e50640b3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7026" y="1782697"/>
            <a:ext cx="2677125" cy="289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90e043bcd_0_10"/>
          <p:cNvSpPr txBox="1"/>
          <p:nvPr>
            <p:ph type="title"/>
          </p:nvPr>
        </p:nvSpPr>
        <p:spPr>
          <a:xfrm>
            <a:off x="142063" y="2936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Calibri"/>
              <a:buNone/>
            </a:pPr>
            <a:r>
              <a:rPr b="1" lang="pt-BR">
                <a:solidFill>
                  <a:srgbClr val="0033CC"/>
                </a:solidFill>
              </a:rPr>
              <a:t>Problemas Enfrentados</a:t>
            </a:r>
            <a:endParaRPr/>
          </a:p>
        </p:txBody>
      </p:sp>
      <p:sp>
        <p:nvSpPr>
          <p:cNvPr id="129" name="Google Shape;129;g3d90e043bcd_0_10"/>
          <p:cNvSpPr txBox="1"/>
          <p:nvPr>
            <p:ph idx="1" type="body"/>
          </p:nvPr>
        </p:nvSpPr>
        <p:spPr>
          <a:xfrm>
            <a:off x="599263" y="1166018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6"/>
              <a:buNone/>
            </a:pPr>
            <a:r>
              <a:rPr b="1" lang="pt-BR" sz="2800">
                <a:latin typeface="Arial"/>
                <a:ea typeface="Arial"/>
                <a:cs typeface="Arial"/>
                <a:sym typeface="Arial"/>
              </a:rPr>
              <a:t>Gargalo de GPU: causa raiz e correção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366395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pt-BR" sz="2800">
                <a:latin typeface="Arial"/>
                <a:ea typeface="Arial"/>
                <a:cs typeface="Arial"/>
                <a:sym typeface="Arial"/>
              </a:rPr>
              <a:t>Usuário fora do grupo render, sem acesso a /dev/dri/renderD128. A renderização caía para software e o Ogre2 abortava.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800">
                <a:latin typeface="Arial"/>
                <a:ea typeface="Arial"/>
                <a:cs typeface="Arial"/>
                <a:sym typeface="Arial"/>
              </a:rPr>
              <a:t>Configuração do MoveIt: seis defeitos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366395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pt-BR" sz="2800">
                <a:latin typeface="Arial"/>
                <a:ea typeface="Arial"/>
                <a:cs typeface="Arial"/>
                <a:sym typeface="Arial"/>
              </a:rPr>
              <a:t>Tag de colisão no singular, auto-colisão da garra e mapeamento errado de controladores impediam planejar e executar.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800">
                <a:latin typeface="Arial"/>
                <a:ea typeface="Arial"/>
                <a:cs typeface="Arial"/>
                <a:sym typeface="Arial"/>
              </a:rPr>
              <a:t>Volume de dados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366395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pt-BR" sz="2800">
                <a:latin typeface="Arial"/>
                <a:ea typeface="Arial"/>
                <a:cs typeface="Arial"/>
                <a:sym typeface="Arial"/>
              </a:rPr>
              <a:t>Com a GPU liberada as 10.000 poses saem em uma noite, e o SSD NVMe absorve os 42 GB gerados.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g3d90e043bcd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4276" y="84575"/>
            <a:ext cx="1940356" cy="1032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volvimento" id="131" name="Google Shape;131;g3d90e043bcd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344" y="5977259"/>
            <a:ext cx="28003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90e043bcd_0_23"/>
          <p:cNvSpPr txBox="1"/>
          <p:nvPr>
            <p:ph type="title"/>
          </p:nvPr>
        </p:nvSpPr>
        <p:spPr>
          <a:xfrm>
            <a:off x="142063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Calibri"/>
              <a:buNone/>
            </a:pPr>
            <a:r>
              <a:rPr b="1" lang="pt-BR">
                <a:solidFill>
                  <a:srgbClr val="0033CC"/>
                </a:solidFill>
              </a:rPr>
              <a:t>Problemas Enfrentados</a:t>
            </a:r>
            <a:endParaRPr b="1">
              <a:solidFill>
                <a:srgbClr val="0033CC"/>
              </a:solidFill>
            </a:endParaRPr>
          </a:p>
        </p:txBody>
      </p:sp>
      <p:pic>
        <p:nvPicPr>
          <p:cNvPr id="137" name="Google Shape;137;g3d90e043bcd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4276" y="84575"/>
            <a:ext cx="1940356" cy="1032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volvimento" id="138" name="Google Shape;138;g3d90e043bcd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344" y="5977259"/>
            <a:ext cx="28003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d90e043bcd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9844" y="948275"/>
            <a:ext cx="4857750" cy="512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d90e043bcd_0_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5819" y="2553750"/>
            <a:ext cx="4848225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5bc494afd_0_19"/>
          <p:cNvSpPr txBox="1"/>
          <p:nvPr>
            <p:ph type="title"/>
          </p:nvPr>
        </p:nvSpPr>
        <p:spPr>
          <a:xfrm>
            <a:off x="142063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Calibri"/>
              <a:buNone/>
            </a:pPr>
            <a:r>
              <a:rPr b="1" lang="pt-BR">
                <a:solidFill>
                  <a:srgbClr val="0033CC"/>
                </a:solidFill>
              </a:rPr>
              <a:t>Próximos Passos</a:t>
            </a:r>
            <a:endParaRPr/>
          </a:p>
        </p:txBody>
      </p:sp>
      <p:sp>
        <p:nvSpPr>
          <p:cNvPr id="146" name="Google Shape;146;g345bc494afd_0_19"/>
          <p:cNvSpPr txBox="1"/>
          <p:nvPr>
            <p:ph idx="1" type="body"/>
          </p:nvPr>
        </p:nvSpPr>
        <p:spPr>
          <a:xfrm>
            <a:off x="609600" y="1234326"/>
            <a:ext cx="109728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800"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pt-BR" sz="2800">
                <a:latin typeface="Arial"/>
                <a:ea typeface="Arial"/>
                <a:cs typeface="Arial"/>
                <a:sym typeface="Arial"/>
              </a:rPr>
              <a:t>Alimentar o modelo de Visão Computacional com as 60.000 imagens anotadas para treinar a detecção de pose.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800">
                <a:latin typeface="Arial"/>
                <a:ea typeface="Arial"/>
                <a:cs typeface="Arial"/>
                <a:sym typeface="Arial"/>
              </a:rPr>
              <a:t>Validação em Hardware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pt-BR" sz="2800">
                <a:latin typeface="Arial"/>
                <a:ea typeface="Arial"/>
                <a:cs typeface="Arial"/>
                <a:sym typeface="Arial"/>
              </a:rPr>
              <a:t>Medir a transferência do modelo treinado em simulação para o braço físico.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g345bc494afd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4276" y="84575"/>
            <a:ext cx="1940356" cy="1032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volvimento" id="148" name="Google Shape;148;g345bc494afd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344" y="5977259"/>
            <a:ext cx="28003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2021-11-22T14:05:54Z</dcterms:created>
  <dc:creator>Demostenes Ferreira Filho</dc:creator>
</cp:coreProperties>
</file>